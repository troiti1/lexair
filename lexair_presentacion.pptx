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86" r:id="rId7"/>
    <p:sldId id="305" r:id="rId8"/>
    <p:sldId id="306" r:id="rId9"/>
    <p:sldId id="307" r:id="rId10"/>
    <p:sldId id="308" r:id="rId11"/>
    <p:sldId id="303" r:id="rId12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9CAB"/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929F9F4-4A8F-4326-A1B4-22849713DDAB}" styleName="Estilo oscuro 1 - Énfasis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6" y="1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8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788D56A-B8AF-4D94-9DE9-A106499E590D}" type="datetime1">
              <a:rPr lang="es-ES" smtClean="0"/>
              <a:t>10/05/2026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831430A-4AA4-45C8-AC23-CD6B61C41A4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7FB6AEF-056A-4C82-A275-3A606C42F0EE}" type="datetime1">
              <a:rPr lang="es-ES" noProof="0" smtClean="0"/>
              <a:t>10/05/2026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734D747-9380-41EE-9946-EC9EC0CA5D1E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3935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81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16444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2378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9569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81004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29745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3439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orma libre: Forma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noProof="0"/>
              </a:p>
            </p:txBody>
          </p:sp>
          <p:sp>
            <p:nvSpPr>
              <p:cNvPr id="16" name="Forma libre: Forma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noProof="0"/>
              </a:p>
            </p:txBody>
          </p:sp>
          <p:sp>
            <p:nvSpPr>
              <p:cNvPr id="17" name="Triángulo rectángulo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noProof="0"/>
              </a:p>
            </p:txBody>
          </p:sp>
          <p:sp>
            <p:nvSpPr>
              <p:cNvPr id="18" name="Triángulo rectángulo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noProof="0"/>
              </a:p>
            </p:txBody>
          </p:sp>
          <p:sp>
            <p:nvSpPr>
              <p:cNvPr id="19" name="Triángulo rectángulo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noProof="0"/>
              </a:p>
            </p:txBody>
          </p:sp>
          <p:sp>
            <p:nvSpPr>
              <p:cNvPr id="20" name="Forma libre: Forma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noProof="0"/>
              </a:p>
            </p:txBody>
          </p:sp>
        </p:grpSp>
        <p:sp>
          <p:nvSpPr>
            <p:cNvPr id="9" name="Forma libre: Forma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s-ES" noProof="0"/>
            </a:p>
          </p:txBody>
        </p:sp>
        <p:sp>
          <p:nvSpPr>
            <p:cNvPr id="11" name="Forma libre: Forma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orma libre: Forma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noProof="0"/>
              </a:p>
            </p:txBody>
          </p:sp>
          <p:sp>
            <p:nvSpPr>
              <p:cNvPr id="14" name="Forma libre: Forma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noProof="0"/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es-ES" noProof="0"/>
              <a:t>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 rtl="0"/>
            <a:r>
              <a:rPr lang="es-ES" noProof="0"/>
              <a:t>Haga clic para modificar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Triángulo rectángulo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13" name="Forma libre: Forma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14" name="Forma libre: Forma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15" name="Forma libre: Forma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noProof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 rtl="0"/>
            <a:r>
              <a:rPr lang="es-ES" noProof="0"/>
              <a:t>Editar estilos de texto del patrón</a:t>
            </a:r>
          </a:p>
        </p:txBody>
      </p:sp>
      <p:sp>
        <p:nvSpPr>
          <p:cNvPr id="22" name="Marcador de número de diapositiva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Título de la sección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 altern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4" name="Forma libre: Forma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24" name="Forma libre: Forma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5" name="Forma libre: Forma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orma libre: Forma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s-ES" noProof="0"/>
            </a:p>
          </p:txBody>
        </p:sp>
        <p:sp>
          <p:nvSpPr>
            <p:cNvPr id="28" name="Forma libre: Forma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s-ES" noProof="0"/>
            </a:p>
          </p:txBody>
        </p:sp>
      </p:grpSp>
      <p:sp>
        <p:nvSpPr>
          <p:cNvPr id="29" name="Forma libre: Forma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30" name="Forma libre: Forma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noProof="0"/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orma libre: Forma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33" name="Forma libre: Forma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Título de la sección 01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 rtl="0"/>
            <a:r>
              <a:rPr lang="es-ES" noProof="0"/>
              <a:t>Editar estilos de texto del patrón</a:t>
            </a:r>
          </a:p>
        </p:txBody>
      </p:sp>
      <p:sp>
        <p:nvSpPr>
          <p:cNvPr id="35" name="Marcador de número de diapositiva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ci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4" name="Forma libre: Forma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24" name="Forma libre: Forma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5" name="Forma libre: Forma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 rtl="0"/>
            <a:r>
              <a:rPr lang="es-ES" sz="18400" noProof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Cita</a:t>
            </a:r>
          </a:p>
        </p:txBody>
      </p:sp>
      <p:sp>
        <p:nvSpPr>
          <p:cNvPr id="19" name="Marcador de número de diapositiva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text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500" y="1625385"/>
            <a:ext cx="6718300" cy="4093243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modificar el estilo de título del patrón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ángulo: Una sola esquina cortada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ES" noProof="0"/>
            </a:p>
          </p:txBody>
        </p:sp>
        <p:sp>
          <p:nvSpPr>
            <p:cNvPr id="3" name="Rectángulo: Una sola esquina cortada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24" name="Forma libre: Forma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modificar el estilo de título del patrón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ángulo: Una sola esquina cortada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ES" noProof="0"/>
            </a:p>
          </p:txBody>
        </p:sp>
        <p:sp>
          <p:nvSpPr>
            <p:cNvPr id="3" name="Rectángulo: Una sola esquina cortada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24" name="Forma libre: Forma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3365" y="1825625"/>
            <a:ext cx="11215235" cy="4351338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modificar el estilo de título del patrón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ángulo: Una sola esquina cortada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ES" noProof="0"/>
            </a:p>
          </p:txBody>
        </p:sp>
        <p:sp>
          <p:nvSpPr>
            <p:cNvPr id="3" name="Rectángulo: Una sola esquina cortada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24" name="Forma libre: Forma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44500" y="1681163"/>
            <a:ext cx="5157787" cy="823912"/>
          </a:xfrm>
        </p:spPr>
        <p:txBody>
          <a:bodyPr rtlCol="0"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26" name="Marcador de posición de texto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500812" y="1681163"/>
            <a:ext cx="5157788" cy="823912"/>
          </a:xfrm>
        </p:spPr>
        <p:txBody>
          <a:bodyPr rtlCol="0"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27" name="Marcador de posición de contenido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44500" y="2505075"/>
            <a:ext cx="5157787" cy="3684588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28" name="Marcador de posición de contenido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475412" y="2505075"/>
            <a:ext cx="5183188" cy="3684588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modificar el estilo de título del patrón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ángulo: Una sola esquina cortada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ES" noProof="0"/>
            </a:p>
          </p:txBody>
        </p:sp>
        <p:sp>
          <p:nvSpPr>
            <p:cNvPr id="3" name="Rectángulo: Una sola esquina cortada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24" name="Forma libre: Forma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3365" y="1517715"/>
            <a:ext cx="5184437" cy="4659248"/>
          </a:xfrm>
        </p:spPr>
        <p:txBody>
          <a:bodyPr rtlCol="0"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21" name="Marcador de posición de contenido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74163" y="1517715"/>
            <a:ext cx="5184437" cy="4659248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ía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modificar el estilo de título del patrón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ángulo: Una sola esquina cortada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3" name="Rectángulo: Una sola esquina cortada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20" name="Marcador de posición de imagen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1" name="Marcador de posición de imagen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2" name="Marcador de posición de imagen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3" name="Marcador de posición de imagen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4" name="Marcador de posición de imagen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6" name="Marcador de texto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27" name="Marcador de posición de texto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28" name="Marcador de posición de texto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29" name="Marcador de posición de texto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30" name="Marcador de posición de texto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orma libre: Forma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+ sección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modificar el estilo de título del patrón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ángulo: Una sola esquina cortada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3" name="Rectángulo: Una sola esquina cortada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26" name="Marcador de texto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35" name="Forma libre: Forma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r>
              <a:rPr lang="es-ES" noProof="0"/>
              <a:t>Insertar imagen</a:t>
            </a:r>
          </a:p>
        </p:txBody>
      </p:sp>
      <p:sp>
        <p:nvSpPr>
          <p:cNvPr id="36" name="Marcador de posición de texto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37" name="Marcador de posición de texto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+ text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modificar el estilo de título del patrón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ángulo: Una sola esquina cortada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3" name="Rectángulo: Una sola esquina cortada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26" name="Marcador de texto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35" name="Forma libre: Forma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r>
              <a:rPr lang="es-ES" noProof="0"/>
              <a:t>Insertar imagen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leyend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modificar el estilo de título del patrón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ángulo: Una sola esquina cortada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3" name="Rectángulo: Una sola esquina cortada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35" name="Forma libre: Forma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20" name="Marcador de posición de imagen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 rtlCol="0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1" name="Marcador de texto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43366" y="1444649"/>
            <a:ext cx="3365063" cy="4579079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modificar el estilo de título del patrón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ángulo: Una sola esquina cortada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3" name="Rectángulo: Una sola esquina cortada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35" name="Forma libre: Forma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21" name="Marcador de texto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43366" y="1444649"/>
            <a:ext cx="3365063" cy="4579079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22" name="Marcador de contenido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64290" y="1444649"/>
            <a:ext cx="7694310" cy="4579079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9" name="Forma libre: Forma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20" name="Forma libre: Forma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21" name="Forma libre: Forma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2" name="Forma libre: Forma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orma libre: Forma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26" name="Forma libre: Forma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30" name="Forma libre: Forma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1" name="Marcador de número de diapositiva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radecimien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Forma libre: Forma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6" name="Forma libre: Forma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0" name="Forma libre: Forma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18" name="Triángulo rectángulo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19" name="Triángulo rectángulo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es-ES" noProof="0"/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radecimien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Forma libre: Forma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6" name="Forma libre: Forma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0" name="Forma libre: Forma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es-ES" noProof="0"/>
              <a:t>Gracias</a:t>
            </a:r>
          </a:p>
        </p:txBody>
      </p:sp>
      <p:sp>
        <p:nvSpPr>
          <p:cNvPr id="35" name="Forma libre: Forma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32" name="Forma libre: Forma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30" name="Forma libre: Forma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263D6C4-4840-40CC-AC84-17E24B3B7BDE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7" name="Forma libre: Forma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8" name="Forma libre: Forma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9" name="Forma libre: Forma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Forma libre: Forma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es-ES" noProof="0">
                <a:latin typeface="+mj-lt"/>
              </a:rPr>
              <a:t>Haga clic para modificar el estilo de título del patrón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orma libre: Forma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14" name="Forma libre: Forma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ángulo: Una sola esquina cortada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ES" noProof="0"/>
            </a:p>
          </p:txBody>
        </p:sp>
        <p:sp>
          <p:nvSpPr>
            <p:cNvPr id="17" name="Rectángulo: Una sola esquina cortada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18" name="Forma libre: Forma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9" name="Marcador de número de diapositiva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C263D6C4-4840-40CC-AC84-17E24B3B7BDE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4" r:id="rId7"/>
    <p:sldLayoutId id="2147483665" r:id="rId8"/>
    <p:sldLayoutId id="2147483673" r:id="rId9"/>
    <p:sldLayoutId id="2147483662" r:id="rId10"/>
    <p:sldLayoutId id="2147483663" r:id="rId11"/>
    <p:sldLayoutId id="2147483664" r:id="rId12"/>
    <p:sldLayoutId id="2147483675" r:id="rId13"/>
    <p:sldLayoutId id="2147483676" r:id="rId14"/>
    <p:sldLayoutId id="2147483672" r:id="rId15"/>
    <p:sldLayoutId id="2147483667" r:id="rId16"/>
    <p:sldLayoutId id="2147483668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exair-2ftmxrc3zn7cpkprba6jbk.streamlit.app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7314" y="1432725"/>
            <a:ext cx="9112104" cy="4240393"/>
          </a:xfrm>
        </p:spPr>
        <p:txBody>
          <a:bodyPr rtlCol="0"/>
          <a:lstStyle/>
          <a:p>
            <a:pPr algn="ctr"/>
            <a:b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s-ES" dirty="0">
              <a:solidFill>
                <a:schemeClr val="bg1"/>
              </a:solidFill>
            </a:endParaRPr>
          </a:p>
        </p:txBody>
      </p:sp>
      <p:pic>
        <p:nvPicPr>
          <p:cNvPr id="6" name="Imagen 5" descr="Logotipo, nombre de la empresa">
            <a:extLst>
              <a:ext uri="{FF2B5EF4-FFF2-40B4-BE49-F238E27FC236}">
                <a16:creationId xmlns:a16="http://schemas.microsoft.com/office/drawing/2014/main" id="{97A98D61-E74B-A981-588D-9476CCD1B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136" y="0"/>
            <a:ext cx="6967728" cy="4645152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F2A9AF27-ED99-EC3D-B0B8-3E980D2A076F}"/>
              </a:ext>
            </a:extLst>
          </p:cNvPr>
          <p:cNvSpPr/>
          <p:nvPr/>
        </p:nvSpPr>
        <p:spPr>
          <a:xfrm>
            <a:off x="821095" y="3552921"/>
            <a:ext cx="11216639" cy="10972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Experto en Derechos de </a:t>
            </a:r>
          </a:p>
          <a:p>
            <a:pPr marL="0" indent="0" algn="ctr">
              <a:buNone/>
            </a:pPr>
            <a:r>
              <a:rPr lang="en-US" sz="3600" dirty="0" err="1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3600" dirty="0"/>
              <a:t> </a:t>
            </a:r>
            <a:r>
              <a:rPr lang="en-US" sz="3600" dirty="0" err="1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pasajeros</a:t>
            </a:r>
            <a:r>
              <a:rPr lang="en-US" sz="36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dirty="0" err="1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aéreos</a:t>
            </a:r>
            <a:r>
              <a:rPr lang="en-US" sz="36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la Unión Europea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472" y="282688"/>
            <a:ext cx="7781544" cy="864371"/>
          </a:xfrm>
        </p:spPr>
        <p:txBody>
          <a:bodyPr rtlCol="0">
            <a:normAutofit/>
          </a:bodyPr>
          <a:lstStyle/>
          <a:p>
            <a:pPr rtl="0"/>
            <a:r>
              <a:rPr lang="es-ES" sz="3200" u="sng" dirty="0"/>
              <a:t>Objetivo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es-ES" smtClean="0"/>
              <a:pPr/>
              <a:t>2</a:t>
            </a:fld>
            <a:endParaRPr lang="es-ES"/>
          </a:p>
        </p:txBody>
      </p:sp>
      <p:sp>
        <p:nvSpPr>
          <p:cNvPr id="7" name="Título 3">
            <a:extLst>
              <a:ext uri="{FF2B5EF4-FFF2-40B4-BE49-F238E27FC236}">
                <a16:creationId xmlns:a16="http://schemas.microsoft.com/office/drawing/2014/main" id="{D90BBDCC-1641-36FD-9931-9FFAA9F664D8}"/>
              </a:ext>
            </a:extLst>
          </p:cNvPr>
          <p:cNvSpPr txBox="1">
            <a:spLocks/>
          </p:cNvSpPr>
          <p:nvPr/>
        </p:nvSpPr>
        <p:spPr>
          <a:xfrm>
            <a:off x="821472" y="2032237"/>
            <a:ext cx="7781544" cy="8643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385D4AE-CFEB-D031-1050-7F3536FA554F}"/>
              </a:ext>
            </a:extLst>
          </p:cNvPr>
          <p:cNvSpPr txBox="1"/>
          <p:nvPr/>
        </p:nvSpPr>
        <p:spPr>
          <a:xfrm>
            <a:off x="821470" y="3520619"/>
            <a:ext cx="7335189" cy="3801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</a:rPr>
              <a:t>①  Reg. (CE) 261/2004 – </a:t>
            </a:r>
            <a:r>
              <a:rPr lang="en-US" sz="2400" dirty="0" err="1">
                <a:solidFill>
                  <a:schemeClr val="bg1"/>
                </a:solidFill>
              </a:rPr>
              <a:t>Cancelación</a:t>
            </a:r>
            <a:r>
              <a:rPr lang="en-US" sz="2400" dirty="0">
                <a:solidFill>
                  <a:schemeClr val="bg1"/>
                </a:solidFill>
              </a:rPr>
              <a:t> / </a:t>
            </a:r>
            <a:r>
              <a:rPr lang="en-US" sz="2400" dirty="0" err="1">
                <a:solidFill>
                  <a:schemeClr val="bg1"/>
                </a:solidFill>
              </a:rPr>
              <a:t>retraso</a:t>
            </a:r>
            <a:r>
              <a:rPr lang="en-US" sz="2400" dirty="0">
                <a:solidFill>
                  <a:schemeClr val="bg1"/>
                </a:solidFill>
              </a:rPr>
              <a:t> / </a:t>
            </a:r>
            <a:r>
              <a:rPr lang="en-US" sz="2400" dirty="0" err="1">
                <a:solidFill>
                  <a:schemeClr val="bg1"/>
                </a:solidFill>
              </a:rPr>
              <a:t>denegación</a:t>
            </a:r>
            <a:endParaRPr lang="en-US" sz="2400" dirty="0">
              <a:solidFill>
                <a:schemeClr val="bg1"/>
              </a:solidFill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</a:rPr>
              <a:t>②  Reg. (CE) 889/2002 – </a:t>
            </a:r>
            <a:r>
              <a:rPr lang="en-US" sz="2400" dirty="0" err="1">
                <a:solidFill>
                  <a:schemeClr val="bg1"/>
                </a:solidFill>
              </a:rPr>
              <a:t>Responsabilidad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compañías</a:t>
            </a:r>
            <a:endParaRPr lang="en-US" sz="2400" dirty="0">
              <a:solidFill>
                <a:schemeClr val="bg1"/>
              </a:solidFill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</a:rPr>
              <a:t>③  Reg. (CE) 1008/2008 – </a:t>
            </a:r>
            <a:r>
              <a:rPr lang="en-US" sz="2400" dirty="0" err="1">
                <a:solidFill>
                  <a:schemeClr val="bg1"/>
                </a:solidFill>
              </a:rPr>
              <a:t>Licencias</a:t>
            </a:r>
            <a:r>
              <a:rPr lang="en-US" sz="2400" dirty="0">
                <a:solidFill>
                  <a:schemeClr val="bg1"/>
                </a:solidFill>
              </a:rPr>
              <a:t> y </a:t>
            </a:r>
            <a:r>
              <a:rPr lang="en-US" sz="2400" dirty="0" err="1">
                <a:solidFill>
                  <a:schemeClr val="bg1"/>
                </a:solidFill>
              </a:rPr>
              <a:t>precios</a:t>
            </a:r>
            <a:endParaRPr lang="en-US" sz="2400" dirty="0">
              <a:solidFill>
                <a:schemeClr val="bg1"/>
              </a:solidFill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</a:rPr>
              <a:t>④  C/2024/5992 – </a:t>
            </a:r>
            <a:r>
              <a:rPr lang="en-US" sz="2400" dirty="0" err="1">
                <a:solidFill>
                  <a:schemeClr val="bg1"/>
                </a:solidFill>
              </a:rPr>
              <a:t>Discapacidad</a:t>
            </a:r>
            <a:r>
              <a:rPr lang="en-US" sz="2400" dirty="0">
                <a:solidFill>
                  <a:schemeClr val="bg1"/>
                </a:solidFill>
              </a:rPr>
              <a:t> / </a:t>
            </a:r>
            <a:r>
              <a:rPr lang="en-US" sz="2400" dirty="0" err="1">
                <a:solidFill>
                  <a:schemeClr val="bg1"/>
                </a:solidFill>
              </a:rPr>
              <a:t>movilidad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reducida</a:t>
            </a:r>
            <a:endParaRPr lang="en-US" sz="2400" dirty="0">
              <a:solidFill>
                <a:schemeClr val="bg1"/>
              </a:solidFill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</a:rPr>
              <a:t>⑤  Directrices 261/2004 (2016) – </a:t>
            </a:r>
            <a:r>
              <a:rPr lang="en-US" sz="2400" dirty="0" err="1">
                <a:solidFill>
                  <a:schemeClr val="bg1"/>
                </a:solidFill>
              </a:rPr>
              <a:t>Guía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interpretativa</a:t>
            </a:r>
            <a:endParaRPr lang="en-US" sz="2400" dirty="0">
              <a:solidFill>
                <a:schemeClr val="bg1"/>
              </a:solidFill>
            </a:endParaRPr>
          </a:p>
          <a:p>
            <a:endParaRPr lang="es-ES" sz="2400" dirty="0">
              <a:solidFill>
                <a:schemeClr val="bg1"/>
              </a:solidFill>
            </a:endParaRPr>
          </a:p>
        </p:txBody>
      </p:sp>
      <p:sp>
        <p:nvSpPr>
          <p:cNvPr id="3" name="Título 3">
            <a:extLst>
              <a:ext uri="{FF2B5EF4-FFF2-40B4-BE49-F238E27FC236}">
                <a16:creationId xmlns:a16="http://schemas.microsoft.com/office/drawing/2014/main" id="{6E2F3510-1B72-310F-4155-D44F1084FC50}"/>
              </a:ext>
            </a:extLst>
          </p:cNvPr>
          <p:cNvSpPr txBox="1">
            <a:spLocks/>
          </p:cNvSpPr>
          <p:nvPr/>
        </p:nvSpPr>
        <p:spPr>
          <a:xfrm>
            <a:off x="821470" y="2564629"/>
            <a:ext cx="7781544" cy="8643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u="sng" dirty="0"/>
              <a:t>Base legal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3B86D12-6E12-C375-88DD-A233EAB0D167}"/>
              </a:ext>
            </a:extLst>
          </p:cNvPr>
          <p:cNvSpPr txBox="1"/>
          <p:nvPr/>
        </p:nvSpPr>
        <p:spPr>
          <a:xfrm>
            <a:off x="821471" y="1147059"/>
            <a:ext cx="73351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en-US" sz="2400" dirty="0" err="1">
                <a:solidFill>
                  <a:schemeClr val="bg1"/>
                </a:solidFill>
              </a:rPr>
              <a:t>Agente</a:t>
            </a:r>
            <a:r>
              <a:rPr lang="en-US" sz="2400" dirty="0">
                <a:solidFill>
                  <a:schemeClr val="bg1"/>
                </a:solidFill>
              </a:rPr>
              <a:t> de IA </a:t>
            </a:r>
            <a:r>
              <a:rPr lang="en-US" sz="2400" dirty="0" err="1">
                <a:solidFill>
                  <a:schemeClr val="bg1"/>
                </a:solidFill>
              </a:rPr>
              <a:t>especializado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el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marco</a:t>
            </a:r>
            <a:r>
              <a:rPr lang="en-US" sz="2400" dirty="0">
                <a:solidFill>
                  <a:schemeClr val="bg1"/>
                </a:solidFill>
              </a:rPr>
              <a:t> legal </a:t>
            </a:r>
            <a:r>
              <a:rPr lang="en-US" sz="2400" dirty="0" err="1">
                <a:solidFill>
                  <a:schemeClr val="bg1"/>
                </a:solidFill>
              </a:rPr>
              <a:t>europeo</a:t>
            </a:r>
            <a:r>
              <a:rPr lang="en-US" sz="2400" dirty="0">
                <a:solidFill>
                  <a:schemeClr val="bg1"/>
                </a:solidFill>
              </a:rPr>
              <a:t> de </a:t>
            </a:r>
            <a:r>
              <a:rPr lang="en-US" sz="2400" dirty="0" err="1">
                <a:solidFill>
                  <a:schemeClr val="bg1"/>
                </a:solidFill>
              </a:rPr>
              <a:t>protección</a:t>
            </a:r>
            <a:r>
              <a:rPr lang="en-US" sz="2400" dirty="0">
                <a:solidFill>
                  <a:schemeClr val="bg1"/>
                </a:solidFill>
              </a:rPr>
              <a:t> de </a:t>
            </a:r>
            <a:r>
              <a:rPr lang="en-US" sz="2400" dirty="0" err="1">
                <a:solidFill>
                  <a:schemeClr val="bg1"/>
                </a:solidFill>
              </a:rPr>
              <a:t>pasajeros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aéreos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capaz</a:t>
            </a:r>
            <a:r>
              <a:rPr lang="en-US" sz="2400" dirty="0">
                <a:solidFill>
                  <a:schemeClr val="bg1"/>
                </a:solidFill>
              </a:rPr>
              <a:t> de responder </a:t>
            </a:r>
            <a:r>
              <a:rPr lang="en-US" sz="2400" dirty="0" err="1">
                <a:solidFill>
                  <a:schemeClr val="bg1"/>
                </a:solidFill>
              </a:rPr>
              <a:t>consultas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citando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siempre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el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Reglamento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exacto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382" y="533400"/>
            <a:ext cx="8051939" cy="864371"/>
          </a:xfrm>
        </p:spPr>
        <p:txBody>
          <a:bodyPr rtlCol="0">
            <a:normAutofit fontScale="90000"/>
          </a:bodyPr>
          <a:lstStyle/>
          <a:p>
            <a:pPr rtl="0"/>
            <a:r>
              <a:rPr lang="es-ES" dirty="0"/>
              <a:t>Arquitectura del sistema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es-ES" smtClean="0"/>
              <a:pPr rtl="0"/>
              <a:t>3</a:t>
            </a:fld>
            <a:endParaRPr lang="es-ES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622F2BDF-E723-7FB0-E30A-E77C85F654C1}"/>
              </a:ext>
            </a:extLst>
          </p:cNvPr>
          <p:cNvSpPr/>
          <p:nvPr/>
        </p:nvSpPr>
        <p:spPr>
          <a:xfrm>
            <a:off x="1234751" y="1600200"/>
            <a:ext cx="1920240" cy="1828800"/>
          </a:xfrm>
          <a:prstGeom prst="roundRect">
            <a:avLst>
              <a:gd name="adj" fmla="val 6000"/>
            </a:avLst>
          </a:prstGeom>
          <a:solidFill>
            <a:schemeClr val="accent5">
              <a:lumMod val="60000"/>
              <a:lumOff val="40000"/>
            </a:scheme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2ED7DD6-3826-2B65-6EE3-1BD9B15C43A8}"/>
              </a:ext>
            </a:extLst>
          </p:cNvPr>
          <p:cNvSpPr/>
          <p:nvPr/>
        </p:nvSpPr>
        <p:spPr>
          <a:xfrm>
            <a:off x="1234751" y="1645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👤</a:t>
            </a:r>
            <a:endParaRPr lang="en-US" sz="2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A75B92A-1155-0DB7-ADBB-B67177E66F18}"/>
              </a:ext>
            </a:extLst>
          </p:cNvPr>
          <p:cNvSpPr/>
          <p:nvPr/>
        </p:nvSpPr>
        <p:spPr>
          <a:xfrm>
            <a:off x="1280471" y="228600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1. Pregunta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del usuario</a:t>
            </a:r>
            <a:endParaRPr lang="en-US" sz="13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6FE8F0D3-39A8-B917-A8AD-D1E4997793B9}"/>
              </a:ext>
            </a:extLst>
          </p:cNvPr>
          <p:cNvSpPr/>
          <p:nvPr/>
        </p:nvSpPr>
        <p:spPr>
          <a:xfrm>
            <a:off x="3520751" y="1600200"/>
            <a:ext cx="1920240" cy="1828800"/>
          </a:xfrm>
          <a:prstGeom prst="roundRect">
            <a:avLst>
              <a:gd name="adj" fmla="val 6000"/>
            </a:avLst>
          </a:prstGeom>
          <a:solidFill>
            <a:schemeClr val="accent5">
              <a:lumMod val="60000"/>
              <a:lumOff val="40000"/>
            </a:scheme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05CD516-620B-07FE-86E3-D2CDCB8F0D92}"/>
              </a:ext>
            </a:extLst>
          </p:cNvPr>
          <p:cNvSpPr/>
          <p:nvPr/>
        </p:nvSpPr>
        <p:spPr>
          <a:xfrm>
            <a:off x="3520751" y="1645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🔍</a:t>
            </a:r>
            <a:endParaRPr lang="en-US" sz="28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4116C02D-2C01-72AC-0072-941A2E6E5F6C}"/>
              </a:ext>
            </a:extLst>
          </p:cNvPr>
          <p:cNvSpPr/>
          <p:nvPr/>
        </p:nvSpPr>
        <p:spPr>
          <a:xfrm>
            <a:off x="3566471" y="228600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2. Retrieval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ChromaDB (k=6)</a:t>
            </a:r>
            <a:endParaRPr lang="en-US" sz="13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F0C0FBA8-B8CD-D03C-302C-4ED8C03354BD}"/>
              </a:ext>
            </a:extLst>
          </p:cNvPr>
          <p:cNvSpPr/>
          <p:nvPr/>
        </p:nvSpPr>
        <p:spPr>
          <a:xfrm>
            <a:off x="5806751" y="1600200"/>
            <a:ext cx="1920240" cy="1828800"/>
          </a:xfrm>
          <a:prstGeom prst="roundRect">
            <a:avLst>
              <a:gd name="adj" fmla="val 6000"/>
            </a:avLst>
          </a:prstGeom>
          <a:solidFill>
            <a:schemeClr val="accent5">
              <a:lumMod val="60000"/>
              <a:lumOff val="40000"/>
            </a:scheme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409E33C-723D-2303-4253-89725B10B122}"/>
              </a:ext>
            </a:extLst>
          </p:cNvPr>
          <p:cNvSpPr/>
          <p:nvPr/>
        </p:nvSpPr>
        <p:spPr>
          <a:xfrm>
            <a:off x="5806751" y="1645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🤖</a:t>
            </a:r>
            <a:endParaRPr lang="en-US" sz="28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21385C52-BD34-CB52-C669-328BD6BED992}"/>
              </a:ext>
            </a:extLst>
          </p:cNvPr>
          <p:cNvSpPr/>
          <p:nvPr/>
        </p:nvSpPr>
        <p:spPr>
          <a:xfrm>
            <a:off x="5852471" y="228600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3. Generación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Gemini Flash</a:t>
            </a:r>
            <a:endParaRPr lang="en-US" sz="130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2B6FA453-345D-EE5E-446C-D190669D3646}"/>
              </a:ext>
            </a:extLst>
          </p:cNvPr>
          <p:cNvSpPr/>
          <p:nvPr/>
        </p:nvSpPr>
        <p:spPr>
          <a:xfrm>
            <a:off x="8092751" y="1600200"/>
            <a:ext cx="1920240" cy="1828800"/>
          </a:xfrm>
          <a:prstGeom prst="roundRect">
            <a:avLst>
              <a:gd name="adj" fmla="val 6000"/>
            </a:avLst>
          </a:prstGeom>
          <a:solidFill>
            <a:schemeClr val="accent5">
              <a:lumMod val="60000"/>
              <a:lumOff val="40000"/>
            </a:scheme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258BCF56-D9D0-565E-6D52-145DD5D68573}"/>
              </a:ext>
            </a:extLst>
          </p:cNvPr>
          <p:cNvSpPr/>
          <p:nvPr/>
        </p:nvSpPr>
        <p:spPr>
          <a:xfrm>
            <a:off x="8092751" y="1645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📝</a:t>
            </a:r>
            <a:endParaRPr lang="en-US" sz="28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D7FA0BC8-F6E8-E3FA-454D-6915A6D47458}"/>
              </a:ext>
            </a:extLst>
          </p:cNvPr>
          <p:cNvSpPr/>
          <p:nvPr/>
        </p:nvSpPr>
        <p:spPr>
          <a:xfrm>
            <a:off x="8138471" y="228600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4. Respuesta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citada + memoria</a:t>
            </a:r>
            <a:endParaRPr lang="en-US" sz="130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B7AC465A-0592-4A16-0FDC-27F174F41A60}"/>
              </a:ext>
            </a:extLst>
          </p:cNvPr>
          <p:cNvSpPr/>
          <p:nvPr/>
        </p:nvSpPr>
        <p:spPr>
          <a:xfrm>
            <a:off x="3154991" y="2514600"/>
            <a:ext cx="365760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765BA2E6-3B61-5145-87F0-4A8DC50E2F6F}"/>
              </a:ext>
            </a:extLst>
          </p:cNvPr>
          <p:cNvSpPr/>
          <p:nvPr/>
        </p:nvSpPr>
        <p:spPr>
          <a:xfrm>
            <a:off x="3319583" y="231343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2980B9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EA985BCC-77D3-9C07-3010-F338D7C58BB0}"/>
              </a:ext>
            </a:extLst>
          </p:cNvPr>
          <p:cNvSpPr/>
          <p:nvPr/>
        </p:nvSpPr>
        <p:spPr>
          <a:xfrm>
            <a:off x="5440991" y="2514600"/>
            <a:ext cx="365760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12B77406-48D4-0F23-F2F5-A629F9FDA5AA}"/>
              </a:ext>
            </a:extLst>
          </p:cNvPr>
          <p:cNvSpPr/>
          <p:nvPr/>
        </p:nvSpPr>
        <p:spPr>
          <a:xfrm>
            <a:off x="5605583" y="231343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2980B9"/>
                </a:solidFill>
              </a:rPr>
              <a:t>▶</a:t>
            </a:r>
            <a:endParaRPr lang="en-US" sz="1400" dirty="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AEFDA2F5-8C30-2AAC-3413-7243CB49A3DA}"/>
              </a:ext>
            </a:extLst>
          </p:cNvPr>
          <p:cNvSpPr/>
          <p:nvPr/>
        </p:nvSpPr>
        <p:spPr>
          <a:xfrm>
            <a:off x="7726991" y="2514600"/>
            <a:ext cx="365760" cy="0"/>
          </a:xfrm>
          <a:prstGeom prst="line">
            <a:avLst/>
          </a:prstGeom>
          <a:noFill/>
          <a:ln w="381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7A17C7A3-4033-F68B-C629-92EF7D5A97F5}"/>
              </a:ext>
            </a:extLst>
          </p:cNvPr>
          <p:cNvSpPr/>
          <p:nvPr/>
        </p:nvSpPr>
        <p:spPr>
          <a:xfrm>
            <a:off x="7891583" y="231343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2980B9"/>
                </a:solidFill>
              </a:rPr>
              <a:t>▶</a:t>
            </a:r>
            <a:endParaRPr lang="en-US" sz="14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90E8702E-E995-3610-06DF-ED5E6DFE1E19}"/>
              </a:ext>
            </a:extLst>
          </p:cNvPr>
          <p:cNvSpPr txBox="1"/>
          <p:nvPr/>
        </p:nvSpPr>
        <p:spPr>
          <a:xfrm>
            <a:off x="886408" y="3872204"/>
            <a:ext cx="6008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Stack</a:t>
            </a:r>
            <a:r>
              <a:rPr lang="es-ES" sz="900" dirty="0"/>
              <a:t> </a:t>
            </a:r>
            <a:r>
              <a:rPr lang="es-ES" sz="24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tecnológico</a:t>
            </a:r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1FFF6920-E61F-CCE5-F8F6-2917647A9721}"/>
              </a:ext>
            </a:extLst>
          </p:cNvPr>
          <p:cNvSpPr/>
          <p:nvPr/>
        </p:nvSpPr>
        <p:spPr>
          <a:xfrm>
            <a:off x="978159" y="4716811"/>
            <a:ext cx="4114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08158E80-E520-BA08-57C9-09B3262C18D4}"/>
              </a:ext>
            </a:extLst>
          </p:cNvPr>
          <p:cNvSpPr/>
          <p:nvPr/>
        </p:nvSpPr>
        <p:spPr>
          <a:xfrm>
            <a:off x="1069599" y="4716811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</a:rPr>
              <a:t>LLM: </a:t>
            </a:r>
            <a:r>
              <a:rPr lang="en-US" sz="1200" dirty="0">
                <a:solidFill>
                  <a:srgbClr val="0D1B2A"/>
                </a:solidFill>
              </a:rPr>
              <a:t>gemini-2.5-flash</a:t>
            </a:r>
            <a:endParaRPr lang="en-US" sz="1200" dirty="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3FED4191-2F6A-B681-7B63-ECD721BD9EFD}"/>
              </a:ext>
            </a:extLst>
          </p:cNvPr>
          <p:cNvSpPr/>
          <p:nvPr/>
        </p:nvSpPr>
        <p:spPr>
          <a:xfrm>
            <a:off x="978159" y="5155723"/>
            <a:ext cx="4114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87D0AD5B-5225-D22B-48ED-1BD0550BB543}"/>
              </a:ext>
            </a:extLst>
          </p:cNvPr>
          <p:cNvSpPr/>
          <p:nvPr/>
        </p:nvSpPr>
        <p:spPr>
          <a:xfrm>
            <a:off x="1069599" y="5155723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</a:rPr>
              <a:t>Embeddings: </a:t>
            </a:r>
            <a:r>
              <a:rPr lang="en-US" sz="1200" dirty="0">
                <a:solidFill>
                  <a:srgbClr val="0D1B2A"/>
                </a:solidFill>
              </a:rPr>
              <a:t>gemini-embedding-001</a:t>
            </a:r>
            <a:endParaRPr lang="en-US" sz="1200" dirty="0"/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DE9883BD-907D-A902-1F2B-65D5C0242170}"/>
              </a:ext>
            </a:extLst>
          </p:cNvPr>
          <p:cNvSpPr/>
          <p:nvPr/>
        </p:nvSpPr>
        <p:spPr>
          <a:xfrm>
            <a:off x="978159" y="5594635"/>
            <a:ext cx="4114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FCEE1FE7-59B9-4F97-E2F8-E69DCEE8B8F2}"/>
              </a:ext>
            </a:extLst>
          </p:cNvPr>
          <p:cNvSpPr/>
          <p:nvPr/>
        </p:nvSpPr>
        <p:spPr>
          <a:xfrm>
            <a:off x="1069599" y="5594635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</a:rPr>
              <a:t>Vector Store: </a:t>
            </a:r>
            <a:r>
              <a:rPr lang="en-US" sz="1200" dirty="0">
                <a:solidFill>
                  <a:srgbClr val="0D1B2A"/>
                </a:solidFill>
              </a:rPr>
              <a:t>ChromaDB (686 vectores)</a:t>
            </a:r>
            <a:endParaRPr lang="en-US" sz="1200" dirty="0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151DDC04-F55B-8567-5B1A-F871C9210A7A}"/>
              </a:ext>
            </a:extLst>
          </p:cNvPr>
          <p:cNvSpPr/>
          <p:nvPr/>
        </p:nvSpPr>
        <p:spPr>
          <a:xfrm>
            <a:off x="5550159" y="4716811"/>
            <a:ext cx="4114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886B0555-7149-0F34-80B1-EC031E345B38}"/>
              </a:ext>
            </a:extLst>
          </p:cNvPr>
          <p:cNvSpPr/>
          <p:nvPr/>
        </p:nvSpPr>
        <p:spPr>
          <a:xfrm>
            <a:off x="5641599" y="4716811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</a:rPr>
              <a:t>Framework: </a:t>
            </a:r>
            <a:r>
              <a:rPr lang="en-US" sz="1200" dirty="0">
                <a:solidFill>
                  <a:srgbClr val="0D1B2A"/>
                </a:solidFill>
              </a:rPr>
              <a:t>LangGraph + LangChain</a:t>
            </a:r>
            <a:endParaRPr lang="en-US" sz="1200" dirty="0"/>
          </a:p>
        </p:txBody>
      </p:sp>
      <p:sp>
        <p:nvSpPr>
          <p:cNvPr id="33" name="Shape 29">
            <a:extLst>
              <a:ext uri="{FF2B5EF4-FFF2-40B4-BE49-F238E27FC236}">
                <a16:creationId xmlns:a16="http://schemas.microsoft.com/office/drawing/2014/main" id="{4666F4CC-F913-55E7-2FC2-EBDE86C9E8C2}"/>
              </a:ext>
            </a:extLst>
          </p:cNvPr>
          <p:cNvSpPr/>
          <p:nvPr/>
        </p:nvSpPr>
        <p:spPr>
          <a:xfrm>
            <a:off x="5550159" y="5155723"/>
            <a:ext cx="4114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320C9294-D20B-0CA3-C007-6BF2CA4696A8}"/>
              </a:ext>
            </a:extLst>
          </p:cNvPr>
          <p:cNvSpPr/>
          <p:nvPr/>
        </p:nvSpPr>
        <p:spPr>
          <a:xfrm>
            <a:off x="5641599" y="5155723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</a:rPr>
              <a:t>Memoria: </a:t>
            </a:r>
            <a:r>
              <a:rPr lang="en-US" sz="1200" dirty="0">
                <a:solidFill>
                  <a:srgbClr val="0D1B2A"/>
                </a:solidFill>
              </a:rPr>
              <a:t>InMemorySaver (thread_id)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91295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382" y="533400"/>
            <a:ext cx="10529218" cy="864371"/>
          </a:xfrm>
        </p:spPr>
        <p:txBody>
          <a:bodyPr rtlCol="0">
            <a:no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Pasos 1-4: Base de </a:t>
            </a:r>
            <a:r>
              <a:rPr lang="en-US" sz="4000" b="1" dirty="0" err="1">
                <a:solidFill>
                  <a:srgbClr val="FFFFFF"/>
                </a:solidFill>
              </a:rPr>
              <a:t>Conocimiento</a:t>
            </a:r>
            <a:r>
              <a:rPr lang="en-US" sz="4000" b="1" dirty="0">
                <a:solidFill>
                  <a:srgbClr val="FFFFFF"/>
                </a:solidFill>
              </a:rPr>
              <a:t> (RAG)</a:t>
            </a:r>
            <a:endParaRPr lang="en-US" sz="4000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es-ES" smtClean="0"/>
              <a:pPr rtl="0"/>
              <a:t>4</a:t>
            </a:fld>
            <a:endParaRPr lang="es-ES"/>
          </a:p>
        </p:txBody>
      </p:sp>
      <p:sp>
        <p:nvSpPr>
          <p:cNvPr id="7" name="Título 3">
            <a:extLst>
              <a:ext uri="{FF2B5EF4-FFF2-40B4-BE49-F238E27FC236}">
                <a16:creationId xmlns:a16="http://schemas.microsoft.com/office/drawing/2014/main" id="{D90BBDCC-1641-36FD-9931-9FFAA9F664D8}"/>
              </a:ext>
            </a:extLst>
          </p:cNvPr>
          <p:cNvSpPr txBox="1">
            <a:spLocks/>
          </p:cNvSpPr>
          <p:nvPr/>
        </p:nvSpPr>
        <p:spPr>
          <a:xfrm>
            <a:off x="821472" y="2215117"/>
            <a:ext cx="7781544" cy="8643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5BBA06B1-9FBF-1A2D-CB5C-691C80AD08E1}"/>
              </a:ext>
            </a:extLst>
          </p:cNvPr>
          <p:cNvSpPr/>
          <p:nvPr/>
        </p:nvSpPr>
        <p:spPr>
          <a:xfrm>
            <a:off x="1798320" y="10744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DD16EB1A-049F-8C26-8FBE-CBC6E12A1D8E}"/>
              </a:ext>
            </a:extLst>
          </p:cNvPr>
          <p:cNvSpPr/>
          <p:nvPr/>
        </p:nvSpPr>
        <p:spPr>
          <a:xfrm>
            <a:off x="1752600" y="203454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79ADD7BA-AA26-7284-FD1C-1D74C2B33B48}"/>
              </a:ext>
            </a:extLst>
          </p:cNvPr>
          <p:cNvSpPr/>
          <p:nvPr/>
        </p:nvSpPr>
        <p:spPr>
          <a:xfrm>
            <a:off x="1752600" y="2034540"/>
            <a:ext cx="502920" cy="178308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C1C6FDB1-788F-C115-33CF-315D94A8D349}"/>
              </a:ext>
            </a:extLst>
          </p:cNvPr>
          <p:cNvSpPr/>
          <p:nvPr/>
        </p:nvSpPr>
        <p:spPr>
          <a:xfrm>
            <a:off x="1752600" y="25831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0660B7F8-AA64-8E57-A792-B2B2949CF755}"/>
              </a:ext>
            </a:extLst>
          </p:cNvPr>
          <p:cNvSpPr/>
          <p:nvPr/>
        </p:nvSpPr>
        <p:spPr>
          <a:xfrm>
            <a:off x="2319528" y="20802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</a:rPr>
              <a:t>📦  Instalación de dependencias</a:t>
            </a:r>
            <a:endParaRPr lang="en-US" sz="13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D8524BC6-CB0B-C5B3-F5CC-5EBE042ED489}"/>
              </a:ext>
            </a:extLst>
          </p:cNvPr>
          <p:cNvSpPr/>
          <p:nvPr/>
        </p:nvSpPr>
        <p:spPr>
          <a:xfrm>
            <a:off x="2319528" y="2473452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100" dirty="0">
                <a:solidFill>
                  <a:srgbClr val="0D1B2A"/>
                </a:solidFill>
              </a:rPr>
              <a:t>Se instalan todas las librerías necesarias para el proyecto y se configura la clave de acceso a la API de Google mediante un archivo de entorno.</a:t>
            </a:r>
            <a:endParaRPr lang="en-US" sz="11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92E260E8-7C67-2EF9-9A4B-DF08811F744B}"/>
              </a:ext>
            </a:extLst>
          </p:cNvPr>
          <p:cNvSpPr/>
          <p:nvPr/>
        </p:nvSpPr>
        <p:spPr>
          <a:xfrm>
            <a:off x="6233160" y="203454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D54C4983-C236-623B-B64A-6CB2B3C0A825}"/>
              </a:ext>
            </a:extLst>
          </p:cNvPr>
          <p:cNvSpPr/>
          <p:nvPr/>
        </p:nvSpPr>
        <p:spPr>
          <a:xfrm>
            <a:off x="6233160" y="2034540"/>
            <a:ext cx="502920" cy="178308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2EAA8335-DAF3-ABF3-ACF2-18CEFC5F63ED}"/>
              </a:ext>
            </a:extLst>
          </p:cNvPr>
          <p:cNvSpPr/>
          <p:nvPr/>
        </p:nvSpPr>
        <p:spPr>
          <a:xfrm>
            <a:off x="6233160" y="25831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288865B3-6F03-8503-203B-697018FAEA9B}"/>
              </a:ext>
            </a:extLst>
          </p:cNvPr>
          <p:cNvSpPr/>
          <p:nvPr/>
        </p:nvSpPr>
        <p:spPr>
          <a:xfrm>
            <a:off x="6800088" y="20802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</a:rPr>
              <a:t>📄  Carga de PDFs</a:t>
            </a:r>
            <a:endParaRPr lang="en-US" sz="13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3852B860-995E-ED05-3CC5-5B5CEE700117}"/>
              </a:ext>
            </a:extLst>
          </p:cNvPr>
          <p:cNvSpPr/>
          <p:nvPr/>
        </p:nvSpPr>
        <p:spPr>
          <a:xfrm>
            <a:off x="6800088" y="2473452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100" dirty="0">
                <a:solidFill>
                  <a:srgbClr val="0D1B2A"/>
                </a:solidFill>
              </a:rPr>
              <a:t>Se cargan los 6 documentos oficiales de la UE desde una carpeta local. </a:t>
            </a:r>
          </a:p>
          <a:p>
            <a:pPr marL="0" indent="0">
              <a:buNone/>
            </a:pPr>
            <a:r>
              <a:rPr lang="es-ES" sz="1100" dirty="0">
                <a:solidFill>
                  <a:srgbClr val="0D1B2A"/>
                </a:solidFill>
              </a:rPr>
              <a:t>Se cargan todos los </a:t>
            </a:r>
            <a:r>
              <a:rPr lang="es-ES" sz="1100" dirty="0" err="1">
                <a:solidFill>
                  <a:srgbClr val="0D1B2A"/>
                </a:solidFill>
              </a:rPr>
              <a:t>PDFs</a:t>
            </a:r>
            <a:r>
              <a:rPr lang="es-ES" sz="1100" dirty="0">
                <a:solidFill>
                  <a:srgbClr val="0D1B2A"/>
                </a:solidFill>
              </a:rPr>
              <a:t> correctamente: 78 páginas en total.</a:t>
            </a:r>
            <a:endParaRPr lang="en-US" sz="110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443B4F2D-973B-793B-740F-B921D20B81F5}"/>
              </a:ext>
            </a:extLst>
          </p:cNvPr>
          <p:cNvSpPr/>
          <p:nvPr/>
        </p:nvSpPr>
        <p:spPr>
          <a:xfrm>
            <a:off x="1752600" y="400050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4B1656CD-7702-061B-EA96-527B1E3DBF1E}"/>
              </a:ext>
            </a:extLst>
          </p:cNvPr>
          <p:cNvSpPr/>
          <p:nvPr/>
        </p:nvSpPr>
        <p:spPr>
          <a:xfrm>
            <a:off x="1752600" y="4000500"/>
            <a:ext cx="502920" cy="178308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C08ADF2B-2130-133A-00DB-C5503FE47494}"/>
              </a:ext>
            </a:extLst>
          </p:cNvPr>
          <p:cNvSpPr/>
          <p:nvPr/>
        </p:nvSpPr>
        <p:spPr>
          <a:xfrm>
            <a:off x="1752600" y="45491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C77B4FA5-EB1D-D0F0-F65F-81056B5D302D}"/>
              </a:ext>
            </a:extLst>
          </p:cNvPr>
          <p:cNvSpPr/>
          <p:nvPr/>
        </p:nvSpPr>
        <p:spPr>
          <a:xfrm>
            <a:off x="2319528" y="40462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</a:rPr>
              <a:t>✂️  Chunking</a:t>
            </a:r>
            <a:endParaRPr lang="en-US" sz="13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29D33DFE-7E4D-0A8F-65E1-2BA2610DFAC3}"/>
              </a:ext>
            </a:extLst>
          </p:cNvPr>
          <p:cNvSpPr/>
          <p:nvPr/>
        </p:nvSpPr>
        <p:spPr>
          <a:xfrm>
            <a:off x="2319528" y="4439412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100" dirty="0">
                <a:solidFill>
                  <a:srgbClr val="0D1B2A"/>
                </a:solidFill>
              </a:rPr>
              <a:t>Los documentos se dividen en fragmentos de 1500 caracteres con un solapamiento de 200, para que ninguna cláusula quede cortada entre dos fragmentos. Se generan 323 </a:t>
            </a:r>
            <a:r>
              <a:rPr lang="es-ES" sz="1100" dirty="0" err="1">
                <a:solidFill>
                  <a:srgbClr val="0D1B2A"/>
                </a:solidFill>
              </a:rPr>
              <a:t>chunks</a:t>
            </a:r>
            <a:r>
              <a:rPr lang="es-ES" sz="1100" dirty="0">
                <a:solidFill>
                  <a:srgbClr val="0D1B2A"/>
                </a:solidFill>
              </a:rPr>
              <a:t> listos para indexar.</a:t>
            </a:r>
            <a:endParaRPr lang="en-US" sz="1100" dirty="0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033B79F3-08C7-71E4-3286-9D3F9A6E3C07}"/>
              </a:ext>
            </a:extLst>
          </p:cNvPr>
          <p:cNvSpPr/>
          <p:nvPr/>
        </p:nvSpPr>
        <p:spPr>
          <a:xfrm>
            <a:off x="6233160" y="400050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20846ADC-53C7-ABCD-7F54-B72ED07A504D}"/>
              </a:ext>
            </a:extLst>
          </p:cNvPr>
          <p:cNvSpPr/>
          <p:nvPr/>
        </p:nvSpPr>
        <p:spPr>
          <a:xfrm>
            <a:off x="6233160" y="4000500"/>
            <a:ext cx="502920" cy="178308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E700231B-8DB9-11B4-2EE2-3E758B1F1F89}"/>
              </a:ext>
            </a:extLst>
          </p:cNvPr>
          <p:cNvSpPr/>
          <p:nvPr/>
        </p:nvSpPr>
        <p:spPr>
          <a:xfrm>
            <a:off x="6233160" y="45491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BD3BCC37-DFD2-E130-E565-E63F2A8E4B3E}"/>
              </a:ext>
            </a:extLst>
          </p:cNvPr>
          <p:cNvSpPr/>
          <p:nvPr/>
        </p:nvSpPr>
        <p:spPr>
          <a:xfrm>
            <a:off x="6800088" y="40462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</a:rPr>
              <a:t>🗄️  Indexación vectorial</a:t>
            </a:r>
            <a:endParaRPr lang="en-US" sz="130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70099323-2BB9-3E56-BC21-CF0481BD1BEC}"/>
              </a:ext>
            </a:extLst>
          </p:cNvPr>
          <p:cNvSpPr/>
          <p:nvPr/>
        </p:nvSpPr>
        <p:spPr>
          <a:xfrm>
            <a:off x="6800088" y="4439412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100" dirty="0">
                <a:solidFill>
                  <a:srgbClr val="0D1B2A"/>
                </a:solidFill>
              </a:rPr>
              <a:t>Cada </a:t>
            </a:r>
            <a:r>
              <a:rPr lang="es-ES" sz="1100" dirty="0" err="1">
                <a:solidFill>
                  <a:srgbClr val="0D1B2A"/>
                </a:solidFill>
              </a:rPr>
              <a:t>chunk</a:t>
            </a:r>
            <a:r>
              <a:rPr lang="es-ES" sz="1100" dirty="0">
                <a:solidFill>
                  <a:srgbClr val="0D1B2A"/>
                </a:solidFill>
              </a:rPr>
              <a:t> se convierte en un vector numérico usando </a:t>
            </a:r>
            <a:r>
              <a:rPr lang="es-ES" sz="1100" dirty="0" err="1">
                <a:solidFill>
                  <a:srgbClr val="0D1B2A"/>
                </a:solidFill>
              </a:rPr>
              <a:t>embeddings</a:t>
            </a:r>
            <a:r>
              <a:rPr lang="es-ES" sz="1100" dirty="0">
                <a:solidFill>
                  <a:srgbClr val="0D1B2A"/>
                </a:solidFill>
              </a:rPr>
              <a:t> de Google y se almacena en </a:t>
            </a:r>
            <a:r>
              <a:rPr lang="es-ES" sz="1100" dirty="0" err="1">
                <a:solidFill>
                  <a:srgbClr val="0D1B2A"/>
                </a:solidFill>
              </a:rPr>
              <a:t>ChromaDB</a:t>
            </a:r>
            <a:r>
              <a:rPr lang="es-ES" sz="1100" dirty="0">
                <a:solidFill>
                  <a:srgbClr val="0D1B2A"/>
                </a:solidFill>
              </a:rPr>
              <a:t>. Se añade una validación para detectar indexaciones incompletas. Resultado: 686 vectores indexados y verificados.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315391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382" y="533400"/>
            <a:ext cx="10529218" cy="864371"/>
          </a:xfrm>
        </p:spPr>
        <p:txBody>
          <a:bodyPr rtlCol="0">
            <a:no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</a:rPr>
              <a:t>Pasos 5-6: </a:t>
            </a:r>
            <a:r>
              <a:rPr lang="en-US" sz="4000" dirty="0" err="1">
                <a:solidFill>
                  <a:srgbClr val="FFFFFF"/>
                </a:solidFill>
              </a:rPr>
              <a:t>Ingeniería</a:t>
            </a:r>
            <a:r>
              <a:rPr lang="en-US" sz="4000" dirty="0">
                <a:solidFill>
                  <a:srgbClr val="FFFFFF"/>
                </a:solidFill>
              </a:rPr>
              <a:t> de Prompts y </a:t>
            </a:r>
            <a:r>
              <a:rPr lang="en-US" sz="4000" dirty="0" err="1">
                <a:solidFill>
                  <a:srgbClr val="FFFFFF"/>
                </a:solidFill>
              </a:rPr>
              <a:t>Agente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es-ES" smtClean="0"/>
              <a:pPr rtl="0"/>
              <a:t>5</a:t>
            </a:fld>
            <a:endParaRPr lang="es-ES"/>
          </a:p>
        </p:txBody>
      </p:sp>
      <p:sp>
        <p:nvSpPr>
          <p:cNvPr id="7" name="Título 3">
            <a:extLst>
              <a:ext uri="{FF2B5EF4-FFF2-40B4-BE49-F238E27FC236}">
                <a16:creationId xmlns:a16="http://schemas.microsoft.com/office/drawing/2014/main" id="{D90BBDCC-1641-36FD-9931-9FFAA9F664D8}"/>
              </a:ext>
            </a:extLst>
          </p:cNvPr>
          <p:cNvSpPr txBox="1">
            <a:spLocks/>
          </p:cNvSpPr>
          <p:nvPr/>
        </p:nvSpPr>
        <p:spPr>
          <a:xfrm>
            <a:off x="821472" y="2215117"/>
            <a:ext cx="7781544" cy="8643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5BBA06B1-9FBF-1A2D-CB5C-691C80AD08E1}"/>
              </a:ext>
            </a:extLst>
          </p:cNvPr>
          <p:cNvSpPr/>
          <p:nvPr/>
        </p:nvSpPr>
        <p:spPr>
          <a:xfrm>
            <a:off x="1798320" y="10744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F290DD11-1C35-12FD-FABB-E99FC1EAAB52}"/>
              </a:ext>
            </a:extLst>
          </p:cNvPr>
          <p:cNvSpPr/>
          <p:nvPr/>
        </p:nvSpPr>
        <p:spPr>
          <a:xfrm>
            <a:off x="1603310" y="1938791"/>
            <a:ext cx="411480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0E1F23F9-FE2D-94C5-B56E-A31FEBF1A8EB}"/>
              </a:ext>
            </a:extLst>
          </p:cNvPr>
          <p:cNvSpPr/>
          <p:nvPr/>
        </p:nvSpPr>
        <p:spPr>
          <a:xfrm>
            <a:off x="1740470" y="2030231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</a:rPr>
              <a:t>📝  System Prompt (7 reglas)</a:t>
            </a:r>
            <a:endParaRPr lang="en-US" sz="1400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531FC5A3-7BC6-49B6-AFFA-8AC7271665C5}"/>
              </a:ext>
            </a:extLst>
          </p:cNvPr>
          <p:cNvSpPr/>
          <p:nvPr/>
        </p:nvSpPr>
        <p:spPr>
          <a:xfrm>
            <a:off x="1740470" y="2441711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D1B2A"/>
                </a:solidFill>
              </a:rPr>
              <a:t>① Citación obligatoria del Reglamento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D1B2A"/>
                </a:solidFill>
              </a:rPr>
              <a:t>② Restricción de dominio (anti-alucinación)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D1B2A"/>
                </a:solidFill>
              </a:rPr>
              <a:t>③ No inventar cifras ni plazos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D1B2A"/>
                </a:solidFill>
              </a:rPr>
              <a:t>④ Estructura fija: respuesta / base legal / condiciones / recomendación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D1B2A"/>
                </a:solidFill>
              </a:rPr>
              <a:t>⑤ Tono formal y accesible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D1B2A"/>
                </a:solidFill>
              </a:rPr>
              <a:t>⑥ Memoria conversacional activa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D1B2A"/>
                </a:solidFill>
              </a:rPr>
              <a:t>⑦ Límites del rol (no sustituto legal)</a:t>
            </a:r>
            <a:endParaRPr lang="en-US" sz="1150" dirty="0"/>
          </a:p>
        </p:txBody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98AA546B-36D2-65DD-2860-1824C2E9B22D}"/>
              </a:ext>
            </a:extLst>
          </p:cNvPr>
          <p:cNvSpPr/>
          <p:nvPr/>
        </p:nvSpPr>
        <p:spPr>
          <a:xfrm>
            <a:off x="6083870" y="1938791"/>
            <a:ext cx="420624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4E6F7E54-5147-DB01-F6D1-E6C27F167F93}"/>
              </a:ext>
            </a:extLst>
          </p:cNvPr>
          <p:cNvSpPr/>
          <p:nvPr/>
        </p:nvSpPr>
        <p:spPr>
          <a:xfrm>
            <a:off x="6221030" y="2030231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</a:rPr>
              <a:t>🔗  Agente LangGraph</a:t>
            </a:r>
            <a:endParaRPr lang="en-US" sz="1400" dirty="0"/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F4721446-9761-8A9B-5E0A-7D7117764478}"/>
              </a:ext>
            </a:extLst>
          </p:cNvPr>
          <p:cNvSpPr/>
          <p:nvPr/>
        </p:nvSpPr>
        <p:spPr>
          <a:xfrm>
            <a:off x="6861110" y="2487431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A1624A11-74C1-7238-8E88-DB7D16A108F2}"/>
              </a:ext>
            </a:extLst>
          </p:cNvPr>
          <p:cNvSpPr/>
          <p:nvPr/>
        </p:nvSpPr>
        <p:spPr>
          <a:xfrm>
            <a:off x="6861110" y="2487431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START</a:t>
            </a:r>
            <a:endParaRPr lang="en-US" sz="1200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CF8F5872-3265-5A87-1DFF-3EB995F41965}"/>
              </a:ext>
            </a:extLst>
          </p:cNvPr>
          <p:cNvSpPr/>
          <p:nvPr/>
        </p:nvSpPr>
        <p:spPr>
          <a:xfrm>
            <a:off x="7912670" y="2990351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2980B9"/>
                </a:solidFill>
              </a:rPr>
              <a:t>▼</a:t>
            </a:r>
            <a:endParaRPr lang="en-US" sz="1400" dirty="0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0FA06F22-85B4-F601-69B1-4E77679B9622}"/>
              </a:ext>
            </a:extLst>
          </p:cNvPr>
          <p:cNvSpPr/>
          <p:nvPr/>
        </p:nvSpPr>
        <p:spPr>
          <a:xfrm>
            <a:off x="6861110" y="3218951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2980B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21BA1956-DA19-78B5-4115-E5338F94F5F4}"/>
              </a:ext>
            </a:extLst>
          </p:cNvPr>
          <p:cNvSpPr/>
          <p:nvPr/>
        </p:nvSpPr>
        <p:spPr>
          <a:xfrm>
            <a:off x="6861110" y="3218951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retrieve_and_generate</a:t>
            </a:r>
            <a:endParaRPr lang="en-US" sz="1200" dirty="0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5440EFD6-13E8-17A5-F09B-B8953FCA3FBA}"/>
              </a:ext>
            </a:extLst>
          </p:cNvPr>
          <p:cNvSpPr/>
          <p:nvPr/>
        </p:nvSpPr>
        <p:spPr>
          <a:xfrm>
            <a:off x="7912670" y="3721871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2980B9"/>
                </a:solidFill>
              </a:rPr>
              <a:t>▼</a:t>
            </a:r>
            <a:endParaRPr lang="en-US" sz="1400" dirty="0"/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A4AD3019-CE4F-A84E-8E2F-3764881C597C}"/>
              </a:ext>
            </a:extLst>
          </p:cNvPr>
          <p:cNvSpPr/>
          <p:nvPr/>
        </p:nvSpPr>
        <p:spPr>
          <a:xfrm>
            <a:off x="6861110" y="3950471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D960EFA3-9C1E-4CED-D88A-269D54C2F1A3}"/>
              </a:ext>
            </a:extLst>
          </p:cNvPr>
          <p:cNvSpPr/>
          <p:nvPr/>
        </p:nvSpPr>
        <p:spPr>
          <a:xfrm>
            <a:off x="6861110" y="3950471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END</a:t>
            </a:r>
            <a:endParaRPr lang="en-US" sz="1200" dirty="0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ED2C26F2-FF03-FD45-F405-F9225CA11CE8}"/>
              </a:ext>
            </a:extLst>
          </p:cNvPr>
          <p:cNvSpPr/>
          <p:nvPr/>
        </p:nvSpPr>
        <p:spPr>
          <a:xfrm>
            <a:off x="6221030" y="4727711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</a:rPr>
              <a:t>InMemorySaver</a:t>
            </a:r>
            <a:r>
              <a:rPr lang="en-US" sz="1200" dirty="0">
                <a:solidFill>
                  <a:srgbClr val="0D1B2A"/>
                </a:solidFill>
              </a:rPr>
              <a:t> · thread_id por sesión</a:t>
            </a:r>
            <a:endParaRPr lang="en-US" sz="1200" dirty="0"/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931EDE35-2985-D38B-B0E5-3EDED0709DA5}"/>
              </a:ext>
            </a:extLst>
          </p:cNvPr>
          <p:cNvSpPr/>
          <p:nvPr/>
        </p:nvSpPr>
        <p:spPr>
          <a:xfrm>
            <a:off x="6221030" y="5093471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</a:rPr>
              <a:t>k=6 chunks</a:t>
            </a:r>
            <a:r>
              <a:rPr lang="en-US" sz="1200" dirty="0">
                <a:solidFill>
                  <a:srgbClr val="0D1B2A"/>
                </a:solidFill>
              </a:rPr>
              <a:t> recuperados (antes k=4)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953211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382" y="533400"/>
            <a:ext cx="10529218" cy="864371"/>
          </a:xfrm>
        </p:spPr>
        <p:txBody>
          <a:bodyPr rtlCol="0">
            <a:no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Pasos 7-8: Demo y </a:t>
            </a:r>
            <a:r>
              <a:rPr lang="en-US" sz="4000" dirty="0" err="1">
                <a:solidFill>
                  <a:srgbClr val="FFFFFF"/>
                </a:solidFill>
              </a:rPr>
              <a:t>Ejemplos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Documentados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es-ES" smtClean="0"/>
              <a:pPr rtl="0"/>
              <a:t>6</a:t>
            </a:fld>
            <a:endParaRPr lang="es-E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5BBA06B1-9FBF-1A2D-CB5C-691C80AD08E1}"/>
              </a:ext>
            </a:extLst>
          </p:cNvPr>
          <p:cNvSpPr/>
          <p:nvPr/>
        </p:nvSpPr>
        <p:spPr>
          <a:xfrm>
            <a:off x="1798320" y="10744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0BDBF85B-76D3-275D-DB49-52089EE74022}"/>
              </a:ext>
            </a:extLst>
          </p:cNvPr>
          <p:cNvSpPr/>
          <p:nvPr/>
        </p:nvSpPr>
        <p:spPr>
          <a:xfrm>
            <a:off x="1491343" y="1853887"/>
            <a:ext cx="8686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97DD713B-ABEA-9508-4AA2-6D994E8AA449}"/>
              </a:ext>
            </a:extLst>
          </p:cNvPr>
          <p:cNvSpPr/>
          <p:nvPr/>
        </p:nvSpPr>
        <p:spPr>
          <a:xfrm>
            <a:off x="1491343" y="1853887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2980B9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1D5D9514-AF1D-D951-7095-4ECC80561CB5}"/>
              </a:ext>
            </a:extLst>
          </p:cNvPr>
          <p:cNvSpPr/>
          <p:nvPr/>
        </p:nvSpPr>
        <p:spPr>
          <a:xfrm>
            <a:off x="1921111" y="1899607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❓ Vuelo con 4h de retraso</a:t>
            </a:r>
            <a:endParaRPr lang="en-US" sz="12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E03B01C9-C273-0432-B539-232D066CD05E}"/>
              </a:ext>
            </a:extLst>
          </p:cNvPr>
          <p:cNvSpPr/>
          <p:nvPr/>
        </p:nvSpPr>
        <p:spPr>
          <a:xfrm>
            <a:off x="6017623" y="1899607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→ 600€ compensación (Art. 7 Reg. 261/2004)</a:t>
            </a:r>
            <a:endParaRPr lang="en-US" sz="120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AA1B4FA6-33EE-5282-EB02-E76F78AC34A8}"/>
              </a:ext>
            </a:extLst>
          </p:cNvPr>
          <p:cNvSpPr/>
          <p:nvPr/>
        </p:nvSpPr>
        <p:spPr>
          <a:xfrm>
            <a:off x="1491343" y="2557975"/>
            <a:ext cx="8686800" cy="594360"/>
          </a:xfrm>
          <a:prstGeom prst="rect">
            <a:avLst/>
          </a:prstGeom>
          <a:solidFill>
            <a:srgbClr val="D6EA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93BE2473-60AA-B021-0231-91ECA22D8793}"/>
              </a:ext>
            </a:extLst>
          </p:cNvPr>
          <p:cNvSpPr/>
          <p:nvPr/>
        </p:nvSpPr>
        <p:spPr>
          <a:xfrm>
            <a:off x="1491343" y="2557975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2980B9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88566DC8-AB6D-79C5-E48F-4EE69BAF716D}"/>
              </a:ext>
            </a:extLst>
          </p:cNvPr>
          <p:cNvSpPr/>
          <p:nvPr/>
        </p:nvSpPr>
        <p:spPr>
          <a:xfrm>
            <a:off x="1921111" y="2603695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❓ Overbooking Barcelona–París</a:t>
            </a:r>
            <a:endParaRPr lang="en-US" sz="12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73819A31-7459-4FFF-DFC0-3BBFDF851800}"/>
              </a:ext>
            </a:extLst>
          </p:cNvPr>
          <p:cNvSpPr/>
          <p:nvPr/>
        </p:nvSpPr>
        <p:spPr>
          <a:xfrm>
            <a:off x="6017623" y="2603695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→ 250€ + asistencia (Arts. 4, 7, 8, 9 Reg. 261/2004)</a:t>
            </a:r>
            <a:endParaRPr lang="en-US" sz="120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926EDD8F-C0B0-31F3-A7CE-2980F8EC107E}"/>
              </a:ext>
            </a:extLst>
          </p:cNvPr>
          <p:cNvSpPr/>
          <p:nvPr/>
        </p:nvSpPr>
        <p:spPr>
          <a:xfrm>
            <a:off x="1491343" y="3262063"/>
            <a:ext cx="8686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2875A63A-E623-EFE0-97D0-359A4551DAEB}"/>
              </a:ext>
            </a:extLst>
          </p:cNvPr>
          <p:cNvSpPr/>
          <p:nvPr/>
        </p:nvSpPr>
        <p:spPr>
          <a:xfrm>
            <a:off x="1491343" y="3262063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2980B9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14C976D1-4780-B1C4-1E95-1DE7820DEA3E}"/>
              </a:ext>
            </a:extLst>
          </p:cNvPr>
          <p:cNvSpPr/>
          <p:nvPr/>
        </p:nvSpPr>
        <p:spPr>
          <a:xfrm>
            <a:off x="1921111" y="3307783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❓ Silla de ruedas / discapacidad</a:t>
            </a:r>
            <a:endParaRPr lang="en-US" sz="12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FEEC943F-EFDD-CBED-7BD2-109B09849FBC}"/>
              </a:ext>
            </a:extLst>
          </p:cNvPr>
          <p:cNvSpPr/>
          <p:nvPr/>
        </p:nvSpPr>
        <p:spPr>
          <a:xfrm>
            <a:off x="6017623" y="3307783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→ No se puede denegar embarque (Reg. 1107/2006)</a:t>
            </a:r>
            <a:endParaRPr lang="en-US" sz="1200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D64FFF80-4C87-F7C7-7872-6F69819DB82F}"/>
              </a:ext>
            </a:extLst>
          </p:cNvPr>
          <p:cNvSpPr/>
          <p:nvPr/>
        </p:nvSpPr>
        <p:spPr>
          <a:xfrm>
            <a:off x="1491343" y="3966151"/>
            <a:ext cx="8686800" cy="594360"/>
          </a:xfrm>
          <a:prstGeom prst="rect">
            <a:avLst/>
          </a:prstGeom>
          <a:solidFill>
            <a:srgbClr val="D6EA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D5D1CFC8-424F-BD3B-7BC9-4A2D21B0E7F3}"/>
              </a:ext>
            </a:extLst>
          </p:cNvPr>
          <p:cNvSpPr/>
          <p:nvPr/>
        </p:nvSpPr>
        <p:spPr>
          <a:xfrm>
            <a:off x="1491343" y="3966151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2980B9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B69F8B7F-3DA0-045F-E958-DD9CCA68FBCF}"/>
              </a:ext>
            </a:extLst>
          </p:cNvPr>
          <p:cNvSpPr/>
          <p:nvPr/>
        </p:nvSpPr>
        <p:spPr>
          <a:xfrm>
            <a:off x="1921111" y="4011871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❓ Vuelo cancelado, hotel mañana</a:t>
            </a:r>
            <a:endParaRPr lang="en-US" sz="12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D843CB4B-85D0-5246-DEAE-F109CDD1CF27}"/>
              </a:ext>
            </a:extLst>
          </p:cNvPr>
          <p:cNvSpPr/>
          <p:nvPr/>
        </p:nvSpPr>
        <p:spPr>
          <a:xfrm>
            <a:off x="6017623" y="4011871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→ Hotel + comidas obligatorio, incluso por tormenta (Art. 9)</a:t>
            </a:r>
            <a:endParaRPr lang="en-US" sz="1200" dirty="0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3AE6094C-0D4C-5A51-7DAC-1446A2971AEA}"/>
              </a:ext>
            </a:extLst>
          </p:cNvPr>
          <p:cNvSpPr/>
          <p:nvPr/>
        </p:nvSpPr>
        <p:spPr>
          <a:xfrm>
            <a:off x="1491343" y="4670239"/>
            <a:ext cx="8686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50551144-C741-78B1-BB71-491A56C6AE44}"/>
              </a:ext>
            </a:extLst>
          </p:cNvPr>
          <p:cNvSpPr/>
          <p:nvPr/>
        </p:nvSpPr>
        <p:spPr>
          <a:xfrm>
            <a:off x="1491343" y="4670239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2980B9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0B68A6D3-0233-BE9B-C431-24C2F01B8CF3}"/>
              </a:ext>
            </a:extLst>
          </p:cNvPr>
          <p:cNvSpPr/>
          <p:nvPr/>
        </p:nvSpPr>
        <p:spPr>
          <a:xfrm>
            <a:off x="1921111" y="4715959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❓ Maleta dañada hace 3 semanas</a:t>
            </a:r>
            <a:endParaRPr lang="en-US" sz="120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E4A11B47-869C-7400-D5F5-303C0FD54F28}"/>
              </a:ext>
            </a:extLst>
          </p:cNvPr>
          <p:cNvSpPr/>
          <p:nvPr/>
        </p:nvSpPr>
        <p:spPr>
          <a:xfrm>
            <a:off x="6017623" y="4715959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</a:rPr>
              <a:t>→ 7 días para queja escrita / 2 años demanda (Reg. 889/2002)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344445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382" y="533400"/>
            <a:ext cx="10529218" cy="864371"/>
          </a:xfrm>
        </p:spPr>
        <p:txBody>
          <a:bodyPr rtlCol="0">
            <a:no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Paso 9: </a:t>
            </a:r>
            <a:r>
              <a:rPr lang="en-US" sz="4000" b="1" dirty="0" err="1">
                <a:solidFill>
                  <a:srgbClr val="FFFFFF"/>
                </a:solidFill>
              </a:rPr>
              <a:t>Despliegue</a:t>
            </a:r>
            <a:r>
              <a:rPr lang="en-US" sz="4000" b="1" dirty="0">
                <a:solidFill>
                  <a:srgbClr val="FFFFFF"/>
                </a:solidFill>
              </a:rPr>
              <a:t> del Front con </a:t>
            </a:r>
            <a:r>
              <a:rPr lang="en-US" sz="4000" b="1" dirty="0" err="1">
                <a:solidFill>
                  <a:srgbClr val="FFFFFF"/>
                </a:solidFill>
              </a:rPr>
              <a:t>Streamlit</a:t>
            </a:r>
            <a:endParaRPr lang="en-US" sz="4000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es-ES" smtClean="0"/>
              <a:pPr rtl="0"/>
              <a:t>7</a:t>
            </a:fld>
            <a:endParaRPr lang="es-E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5BBA06B1-9FBF-1A2D-CB5C-691C80AD08E1}"/>
              </a:ext>
            </a:extLst>
          </p:cNvPr>
          <p:cNvSpPr/>
          <p:nvPr/>
        </p:nvSpPr>
        <p:spPr>
          <a:xfrm>
            <a:off x="1798320" y="10744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F7459AB8-7562-8C86-6009-1F6FECE448E1}"/>
              </a:ext>
            </a:extLst>
          </p:cNvPr>
          <p:cNvSpPr/>
          <p:nvPr/>
        </p:nvSpPr>
        <p:spPr>
          <a:xfrm>
            <a:off x="1537996" y="1803595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B5AAF9AF-DF83-A7ED-9240-F40917D18D4C}"/>
              </a:ext>
            </a:extLst>
          </p:cNvPr>
          <p:cNvSpPr/>
          <p:nvPr/>
        </p:nvSpPr>
        <p:spPr>
          <a:xfrm>
            <a:off x="1693444" y="1867603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</a:rPr>
              <a:t>🐍  app.py — Frontend Streamlit</a:t>
            </a:r>
            <a:endParaRPr lang="en-US" sz="1300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6119656C-93A5-D077-BE9E-C56778F7AB05}"/>
              </a:ext>
            </a:extLst>
          </p:cNvPr>
          <p:cNvSpPr/>
          <p:nvPr/>
        </p:nvSpPr>
        <p:spPr>
          <a:xfrm>
            <a:off x="1693444" y="2260795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Se crea un archivo app.py que carga la base vectorial ChromaDB ya generada, inicializa el agente LexAir y expone un chat interactivo en el navegador usando Streamlit.</a:t>
            </a:r>
            <a:endParaRPr lang="en-US" sz="1150" dirty="0"/>
          </a:p>
        </p:txBody>
      </p:sp>
      <p:sp>
        <p:nvSpPr>
          <p:cNvPr id="28" name="Shape 5">
            <a:extLst>
              <a:ext uri="{FF2B5EF4-FFF2-40B4-BE49-F238E27FC236}">
                <a16:creationId xmlns:a16="http://schemas.microsoft.com/office/drawing/2014/main" id="{385B257C-E511-2159-D6EC-859ED43DA576}"/>
              </a:ext>
            </a:extLst>
          </p:cNvPr>
          <p:cNvSpPr/>
          <p:nvPr/>
        </p:nvSpPr>
        <p:spPr>
          <a:xfrm>
            <a:off x="1537996" y="3449515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950A9EB1-631A-CE9F-550D-359838C67556}"/>
              </a:ext>
            </a:extLst>
          </p:cNvPr>
          <p:cNvSpPr/>
          <p:nvPr/>
        </p:nvSpPr>
        <p:spPr>
          <a:xfrm>
            <a:off x="1693444" y="3513523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</a:rPr>
              <a:t>🐙  Subida a GitHub</a:t>
            </a:r>
            <a:endParaRPr lang="en-US" sz="1300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F8ABE36C-E903-B68B-F303-CB869CEDE974}"/>
              </a:ext>
            </a:extLst>
          </p:cNvPr>
          <p:cNvSpPr/>
          <p:nvPr/>
        </p:nvSpPr>
        <p:spPr>
          <a:xfrm>
            <a:off x="1693444" y="3934147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📁  </a:t>
            </a:r>
            <a:r>
              <a:rPr lang="en-US" sz="1200" b="1" dirty="0">
                <a:solidFill>
                  <a:srgbClr val="2980B9"/>
                </a:solidFill>
              </a:rPr>
              <a:t>chroma_derechos_pasajeros/</a:t>
            </a:r>
            <a:r>
              <a:rPr lang="en-US" sz="1100" dirty="0">
                <a:solidFill>
                  <a:srgbClr val="5D6D7E"/>
                </a:solidFill>
              </a:rPr>
              <a:t>  —  Base vectorial persistida</a:t>
            </a:r>
            <a:endParaRPr lang="en-US" sz="1200" dirty="0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62A96182-7BA8-5FC2-CE0E-D2C3D658562C}"/>
              </a:ext>
            </a:extLst>
          </p:cNvPr>
          <p:cNvSpPr/>
          <p:nvPr/>
        </p:nvSpPr>
        <p:spPr>
          <a:xfrm>
            <a:off x="1693444" y="4263331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📁  </a:t>
            </a:r>
            <a:r>
              <a:rPr lang="en-US" sz="1200" b="1" dirty="0">
                <a:solidFill>
                  <a:srgbClr val="2980B9"/>
                </a:solidFill>
              </a:rPr>
              <a:t>pdfs/</a:t>
            </a:r>
            <a:r>
              <a:rPr lang="en-US" sz="1100" dirty="0">
                <a:solidFill>
                  <a:srgbClr val="5D6D7E"/>
                </a:solidFill>
              </a:rPr>
              <a:t>  —  Documentos oficiales UE</a:t>
            </a:r>
            <a:endParaRPr lang="en-US" sz="1200" dirty="0"/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226B159A-4E80-F4D2-9D2D-4BBE4AB66D60}"/>
              </a:ext>
            </a:extLst>
          </p:cNvPr>
          <p:cNvSpPr/>
          <p:nvPr/>
        </p:nvSpPr>
        <p:spPr>
          <a:xfrm>
            <a:off x="1693444" y="4592515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🐍  </a:t>
            </a:r>
            <a:r>
              <a:rPr lang="en-US" sz="1200" b="1" dirty="0">
                <a:solidFill>
                  <a:srgbClr val="2980B9"/>
                </a:solidFill>
              </a:rPr>
              <a:t>app.py</a:t>
            </a:r>
            <a:r>
              <a:rPr lang="en-US" sz="1100" dirty="0">
                <a:solidFill>
                  <a:srgbClr val="5D6D7E"/>
                </a:solidFill>
              </a:rPr>
              <a:t>  —  Interfaz Streamlit</a:t>
            </a:r>
            <a:endParaRPr lang="en-US" sz="1200" dirty="0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DB418FA1-F3BB-B385-5CB2-9F23E396DF6F}"/>
              </a:ext>
            </a:extLst>
          </p:cNvPr>
          <p:cNvSpPr/>
          <p:nvPr/>
        </p:nvSpPr>
        <p:spPr>
          <a:xfrm>
            <a:off x="1693444" y="4921699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📄  </a:t>
            </a:r>
            <a:r>
              <a:rPr lang="en-US" sz="1200" b="1" dirty="0">
                <a:solidFill>
                  <a:srgbClr val="2980B9"/>
                </a:solidFill>
              </a:rPr>
              <a:t>requirements.txt</a:t>
            </a:r>
            <a:r>
              <a:rPr lang="en-US" sz="1100" dirty="0">
                <a:solidFill>
                  <a:srgbClr val="5D6D7E"/>
                </a:solidFill>
              </a:rPr>
              <a:t>  —  Dependencias del proyecto</a:t>
            </a:r>
            <a:endParaRPr lang="en-US" sz="1200" dirty="0"/>
          </a:p>
        </p:txBody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FC494E07-9F03-64CA-9C44-F29C85C515D2}"/>
              </a:ext>
            </a:extLst>
          </p:cNvPr>
          <p:cNvSpPr/>
          <p:nvPr/>
        </p:nvSpPr>
        <p:spPr>
          <a:xfrm>
            <a:off x="6018556" y="1803595"/>
            <a:ext cx="42062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6B144878-11D5-41AC-55A9-10F9DBCAF616}"/>
              </a:ext>
            </a:extLst>
          </p:cNvPr>
          <p:cNvSpPr/>
          <p:nvPr/>
        </p:nvSpPr>
        <p:spPr>
          <a:xfrm>
            <a:off x="6174004" y="1867603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</a:rPr>
              <a:t>🚀  Despliegue en Streamlit Cloud</a:t>
            </a:r>
            <a:endParaRPr lang="en-US" sz="1300" dirty="0"/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03BDAE68-8D87-4620-E968-37ECC5D0227D}"/>
              </a:ext>
            </a:extLst>
          </p:cNvPr>
          <p:cNvSpPr/>
          <p:nvPr/>
        </p:nvSpPr>
        <p:spPr>
          <a:xfrm>
            <a:off x="6174004" y="2324803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2980B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AEFB0346-299D-D8D2-6256-F5CDF401929E}"/>
              </a:ext>
            </a:extLst>
          </p:cNvPr>
          <p:cNvSpPr/>
          <p:nvPr/>
        </p:nvSpPr>
        <p:spPr>
          <a:xfrm>
            <a:off x="6174004" y="232480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13EF2739-680C-F676-B9E1-8F05139A909B}"/>
              </a:ext>
            </a:extLst>
          </p:cNvPr>
          <p:cNvSpPr/>
          <p:nvPr/>
        </p:nvSpPr>
        <p:spPr>
          <a:xfrm>
            <a:off x="6576340" y="2343091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Subir el repositorio a GitHub</a:t>
            </a:r>
            <a:endParaRPr lang="en-US" sz="1200" dirty="0"/>
          </a:p>
        </p:txBody>
      </p:sp>
      <p:sp>
        <p:nvSpPr>
          <p:cNvPr id="39" name="Shape 16">
            <a:extLst>
              <a:ext uri="{FF2B5EF4-FFF2-40B4-BE49-F238E27FC236}">
                <a16:creationId xmlns:a16="http://schemas.microsoft.com/office/drawing/2014/main" id="{FBEF5EE2-14A4-EAB9-42E3-06427AF9E0E2}"/>
              </a:ext>
            </a:extLst>
          </p:cNvPr>
          <p:cNvSpPr/>
          <p:nvPr/>
        </p:nvSpPr>
        <p:spPr>
          <a:xfrm>
            <a:off x="6174004" y="2891731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2980B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0281D5A2-4A99-219A-5349-ED92AB11248C}"/>
              </a:ext>
            </a:extLst>
          </p:cNvPr>
          <p:cNvSpPr/>
          <p:nvPr/>
        </p:nvSpPr>
        <p:spPr>
          <a:xfrm>
            <a:off x="6174004" y="289173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176D64CD-409A-C5A5-E559-FBCC67847ADA}"/>
              </a:ext>
            </a:extLst>
          </p:cNvPr>
          <p:cNvSpPr/>
          <p:nvPr/>
        </p:nvSpPr>
        <p:spPr>
          <a:xfrm>
            <a:off x="6576340" y="2910019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Entrar en share.streamlit.io con tu cuenta</a:t>
            </a:r>
            <a:endParaRPr lang="en-US" sz="1200" dirty="0"/>
          </a:p>
        </p:txBody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BF22BB8E-7269-A682-3562-929191F9663A}"/>
              </a:ext>
            </a:extLst>
          </p:cNvPr>
          <p:cNvSpPr/>
          <p:nvPr/>
        </p:nvSpPr>
        <p:spPr>
          <a:xfrm>
            <a:off x="6174004" y="3458659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2980B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304B2792-5C9C-3933-3155-4FF41A6C110E}"/>
              </a:ext>
            </a:extLst>
          </p:cNvPr>
          <p:cNvSpPr/>
          <p:nvPr/>
        </p:nvSpPr>
        <p:spPr>
          <a:xfrm>
            <a:off x="6174004" y="345865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44" name="Text 21">
            <a:extLst>
              <a:ext uri="{FF2B5EF4-FFF2-40B4-BE49-F238E27FC236}">
                <a16:creationId xmlns:a16="http://schemas.microsoft.com/office/drawing/2014/main" id="{2C06FF5D-9C97-F673-5A9E-0C0FE8B96BBA}"/>
              </a:ext>
            </a:extLst>
          </p:cNvPr>
          <p:cNvSpPr/>
          <p:nvPr/>
        </p:nvSpPr>
        <p:spPr>
          <a:xfrm>
            <a:off x="6576340" y="3476947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New app → seleccionar el repo y el archivo app.py</a:t>
            </a:r>
            <a:endParaRPr lang="en-US" sz="1200" dirty="0"/>
          </a:p>
        </p:txBody>
      </p:sp>
      <p:sp>
        <p:nvSpPr>
          <p:cNvPr id="45" name="Shape 22">
            <a:extLst>
              <a:ext uri="{FF2B5EF4-FFF2-40B4-BE49-F238E27FC236}">
                <a16:creationId xmlns:a16="http://schemas.microsoft.com/office/drawing/2014/main" id="{E940CEAE-C74B-A6A8-3FC3-194269CC996A}"/>
              </a:ext>
            </a:extLst>
          </p:cNvPr>
          <p:cNvSpPr/>
          <p:nvPr/>
        </p:nvSpPr>
        <p:spPr>
          <a:xfrm>
            <a:off x="6174004" y="4025587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2980B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41EC59D4-55AE-98ED-DD07-B672986854DF}"/>
              </a:ext>
            </a:extLst>
          </p:cNvPr>
          <p:cNvSpPr/>
          <p:nvPr/>
        </p:nvSpPr>
        <p:spPr>
          <a:xfrm>
            <a:off x="6174004" y="402558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77E69104-D8A9-07AE-C39A-779893D5535B}"/>
              </a:ext>
            </a:extLst>
          </p:cNvPr>
          <p:cNvSpPr/>
          <p:nvPr/>
        </p:nvSpPr>
        <p:spPr>
          <a:xfrm>
            <a:off x="6576340" y="4043875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Añadir GOOGLE_API_KEY en Secrets del panel</a:t>
            </a:r>
            <a:endParaRPr lang="en-US" sz="1200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B4401005-28E0-8393-2FEE-D9493BB88E3E}"/>
              </a:ext>
            </a:extLst>
          </p:cNvPr>
          <p:cNvSpPr/>
          <p:nvPr/>
        </p:nvSpPr>
        <p:spPr>
          <a:xfrm>
            <a:off x="6174004" y="4592515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2980B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9" name="Text 26">
            <a:extLst>
              <a:ext uri="{FF2B5EF4-FFF2-40B4-BE49-F238E27FC236}">
                <a16:creationId xmlns:a16="http://schemas.microsoft.com/office/drawing/2014/main" id="{98A95586-9DC6-CDF3-9EB0-84ED509F51C5}"/>
              </a:ext>
            </a:extLst>
          </p:cNvPr>
          <p:cNvSpPr/>
          <p:nvPr/>
        </p:nvSpPr>
        <p:spPr>
          <a:xfrm>
            <a:off x="6174004" y="459251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50" name="Text 27">
            <a:extLst>
              <a:ext uri="{FF2B5EF4-FFF2-40B4-BE49-F238E27FC236}">
                <a16:creationId xmlns:a16="http://schemas.microsoft.com/office/drawing/2014/main" id="{ABA08181-E462-6DDC-836E-17D6D7EB7596}"/>
              </a:ext>
            </a:extLst>
          </p:cNvPr>
          <p:cNvSpPr/>
          <p:nvPr/>
        </p:nvSpPr>
        <p:spPr>
          <a:xfrm>
            <a:off x="6576340" y="4610803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Deploy → LexAir queda online con URL pública</a:t>
            </a:r>
            <a:endParaRPr lang="en-US" sz="1200" dirty="0"/>
          </a:p>
        </p:txBody>
      </p:sp>
      <p:sp>
        <p:nvSpPr>
          <p:cNvPr id="51" name="Shape 28">
            <a:extLst>
              <a:ext uri="{FF2B5EF4-FFF2-40B4-BE49-F238E27FC236}">
                <a16:creationId xmlns:a16="http://schemas.microsoft.com/office/drawing/2014/main" id="{990A05F7-F015-A7AC-3AEF-AD5EF030278D}"/>
              </a:ext>
            </a:extLst>
          </p:cNvPr>
          <p:cNvSpPr/>
          <p:nvPr/>
        </p:nvSpPr>
        <p:spPr>
          <a:xfrm>
            <a:off x="6174004" y="5068003"/>
            <a:ext cx="3886200" cy="347472"/>
          </a:xfrm>
          <a:prstGeom prst="roundRect">
            <a:avLst>
              <a:gd name="adj" fmla="val 21053"/>
            </a:avLst>
          </a:prstGeom>
          <a:solidFill>
            <a:srgbClr val="D6EA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2" name="Text 29">
            <a:extLst>
              <a:ext uri="{FF2B5EF4-FFF2-40B4-BE49-F238E27FC236}">
                <a16:creationId xmlns:a16="http://schemas.microsoft.com/office/drawing/2014/main" id="{59AFC583-69B4-8A97-79D2-6D665970D377}"/>
              </a:ext>
            </a:extLst>
          </p:cNvPr>
          <p:cNvSpPr/>
          <p:nvPr/>
        </p:nvSpPr>
        <p:spPr>
          <a:xfrm>
            <a:off x="6174004" y="5068003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hlinkClick r:id="rId3"/>
              </a:rPr>
              <a:t>🌐  </a:t>
            </a:r>
            <a:r>
              <a:rPr lang="en-US" sz="1200" b="1" dirty="0">
                <a:solidFill>
                  <a:srgbClr val="2980B9"/>
                </a:solidFill>
                <a:hlinkClick r:id="rId3"/>
              </a:rPr>
              <a:t>troiti1's apps  ·  share.streamlit.io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258567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ítulo 3">
            <a:extLst>
              <a:ext uri="{FF2B5EF4-FFF2-40B4-BE49-F238E27FC236}">
                <a16:creationId xmlns:a16="http://schemas.microsoft.com/office/drawing/2014/main" id="{72140874-703D-A186-C6FB-72A07844C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382" y="533400"/>
            <a:ext cx="10529218" cy="864371"/>
          </a:xfrm>
        </p:spPr>
        <p:txBody>
          <a:bodyPr rtlCol="0">
            <a:noAutofit/>
          </a:bodyPr>
          <a:lstStyle/>
          <a:p>
            <a:pPr marL="0" indent="0">
              <a:buNone/>
            </a:pPr>
            <a:r>
              <a:rPr lang="en-US" sz="4000" b="1" dirty="0" err="1">
                <a:solidFill>
                  <a:srgbClr val="FFFFFF"/>
                </a:solidFill>
              </a:rPr>
              <a:t>Resultados</a:t>
            </a:r>
            <a:r>
              <a:rPr lang="en-US" sz="4000" b="1" dirty="0">
                <a:solidFill>
                  <a:srgbClr val="FFFFFF"/>
                </a:solidFill>
              </a:rPr>
              <a:t> y </a:t>
            </a:r>
            <a:r>
              <a:rPr lang="en-US" sz="4000" b="1" dirty="0" err="1">
                <a:solidFill>
                  <a:srgbClr val="FFFFFF"/>
                </a:solidFill>
              </a:rPr>
              <a:t>conclusiones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736717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677708_TF66687569" id="{94E72F2E-B82C-4064-B9D9-7AFF2092BBB1}" vid="{B182133D-8AA6-4CB9-92DC-D6B7329A4168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B67ACAB-C3DC-429D-A23C-0723C084FE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8992231-163D-4428-A2B8-DA1FE0274129}">
  <ds:schemaRefs>
    <ds:schemaRef ds:uri="http://schemas.microsoft.com/office/2006/metadata/properties"/>
    <ds:schemaRef ds:uri="http://purl.org/dc/dcmitype/"/>
    <ds:schemaRef ds:uri="http://schemas.microsoft.com/sharepoint/v3"/>
    <ds:schemaRef ds:uri="http://purl.org/dc/elements/1.1/"/>
    <ds:schemaRef ds:uri="http://schemas.openxmlformats.org/package/2006/metadata/core-properties"/>
    <ds:schemaRef ds:uri="6dc4bcd6-49db-4c07-9060-8acfc67cef9f"/>
    <ds:schemaRef ds:uri="http://schemas.microsoft.com/office/2006/documentManagement/types"/>
    <ds:schemaRef ds:uri="http://schemas.microsoft.com/office/infopath/2007/PartnerControls"/>
    <ds:schemaRef ds:uri="http://purl.org/dc/terms/"/>
    <ds:schemaRef ds:uri="fb0879af-3eba-417a-a55a-ffe6dcd6ca77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A95DE24-D6C3-4A00-9085-D9594C193AE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azul moderna</Template>
  <TotalTime>459</TotalTime>
  <Words>673</Words>
  <Application>Microsoft Office PowerPoint</Application>
  <PresentationFormat>Panorámica</PresentationFormat>
  <Paragraphs>115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Arial</vt:lpstr>
      <vt:lpstr>Calibri</vt:lpstr>
      <vt:lpstr>Consolas</vt:lpstr>
      <vt:lpstr>Trade Gothic LT Pro</vt:lpstr>
      <vt:lpstr>Trebuchet MS</vt:lpstr>
      <vt:lpstr>Tema de Office</vt:lpstr>
      <vt:lpstr> </vt:lpstr>
      <vt:lpstr>Objetivo</vt:lpstr>
      <vt:lpstr>Arquitectura del sistema</vt:lpstr>
      <vt:lpstr>Pasos 1-4: Base de Conocimiento (RAG)</vt:lpstr>
      <vt:lpstr>Pasos 5-6: Ingeniería de Prompts y Agente</vt:lpstr>
      <vt:lpstr>Pasos 7-8: Demo y Ejemplos Documentados</vt:lpstr>
      <vt:lpstr>Paso 9: Despliegue del Front con Streamlit</vt:lpstr>
      <vt:lpstr>Resultados y 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Troitiño Ruiz</dc:creator>
  <cp:lastModifiedBy>David Troitiño Ruiz</cp:lastModifiedBy>
  <cp:revision>11</cp:revision>
  <dcterms:created xsi:type="dcterms:W3CDTF">2026-03-29T11:29:18Z</dcterms:created>
  <dcterms:modified xsi:type="dcterms:W3CDTF">2026-05-10T18:07:08Z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